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325880"/>
            <a:ext cx="107899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1371600" y="2788920"/>
            <a:ext cx="9509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Gaming Center Booking, Payment, Realtime Operation and Tournament Platform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800600" y="3657600"/>
            <a:ext cx="256032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6126480"/>
            <a:ext cx="99669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Диплом хамгаалалт · 2026 · Next.js + Supabase + Firebase + Vercel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01010"/>
          </a:solidFill>
          <a:ln w="12700">
            <a:solidFill>
              <a:srgbClr val="101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4747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9494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04241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138988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208483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243230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277977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312724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382219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16966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451713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486460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555955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590702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625449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660196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" y="219456"/>
            <a:ext cx="1828800" cy="246888"/>
          </a:xfrm>
          <a:prstGeom prst="roundRect">
            <a:avLst>
              <a:gd name="adj" fmla="val 14815"/>
            </a:avLst>
          </a:prstGeom>
          <a:solidFill>
            <a:srgbClr val="FFFFFF">
              <a:alpha val="95000"/>
            </a:srgbClr>
          </a:solidFill>
          <a:ln w="8890">
            <a:solidFill>
              <a:srgbClr val="10101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" y="292608"/>
            <a:ext cx="15544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650" b="1" spc="140" kern="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/ 01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594360" y="713232"/>
            <a:ext cx="7315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Танилцуулга</a:t>
            </a:r>
            <a:endParaRPr lang="en-US" sz="2500" dirty="0"/>
          </a:p>
        </p:txBody>
      </p:sp>
      <p:sp>
        <p:nvSpPr>
          <p:cNvPr id="53" name="Text 51"/>
          <p:cNvSpPr/>
          <p:nvPr/>
        </p:nvSpPr>
        <p:spPr>
          <a:xfrm>
            <a:off x="9738360" y="768096"/>
            <a:ext cx="1554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оноо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13232" y="1645920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14400" y="1554480"/>
            <a:ext cx="70408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Зорилго: PC center-ийн суудал захиалга, төлбөр, check-in, owner/staff operation-ийг нэг системд нэгтгэх.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13232" y="2212848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14400" y="2121408"/>
            <a:ext cx="70408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Хамрах хүрээ: player booking, owner dashboard, staff check-in/no-show, wallet/QPay, review, tournament bracket.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13232" y="2779776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14400" y="2688336"/>
            <a:ext cx="70408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Бүтэц: асуудал, шийдэл, архитектур, хэрэгжилт, тестлэлт, эрсдэл, demo дарааллаар тайлбарлана.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8321040" y="1572768"/>
            <a:ext cx="3246120" cy="2788920"/>
          </a:xfrm>
          <a:prstGeom prst="roundRect">
            <a:avLst>
              <a:gd name="adj" fmla="val 2623"/>
            </a:avLst>
          </a:prstGeom>
          <a:solidFill>
            <a:srgbClr val="101010"/>
          </a:solidFill>
          <a:ln w="12700">
            <a:solidFill>
              <a:srgbClr val="10101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577072" y="1965960"/>
            <a:ext cx="27432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Үндсэн санаа: Book → Pay → Check-in → Play workflow-ийг бодит цагт ажиллуулна.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9281160" y="4005072"/>
            <a:ext cx="118872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01010"/>
          </a:solidFill>
          <a:ln w="12700">
            <a:solidFill>
              <a:srgbClr val="101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4747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9494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04241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138988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208483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243230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277977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312724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382219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16966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451713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486460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555955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590702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625449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660196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" y="219456"/>
            <a:ext cx="1828800" cy="246888"/>
          </a:xfrm>
          <a:prstGeom prst="roundRect">
            <a:avLst>
              <a:gd name="adj" fmla="val 14815"/>
            </a:avLst>
          </a:prstGeom>
          <a:solidFill>
            <a:srgbClr val="FFFFFF">
              <a:alpha val="95000"/>
            </a:srgbClr>
          </a:solidFill>
          <a:ln w="8890">
            <a:solidFill>
              <a:srgbClr val="10101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" y="292608"/>
            <a:ext cx="15544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650" b="1" spc="140" kern="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/ 02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594360" y="713232"/>
            <a:ext cx="7315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Асуудал ба шийдэл</a:t>
            </a:r>
            <a:endParaRPr lang="en-US" sz="2500" dirty="0"/>
          </a:p>
        </p:txBody>
      </p:sp>
      <p:sp>
        <p:nvSpPr>
          <p:cNvPr id="53" name="Text 51"/>
          <p:cNvSpPr/>
          <p:nvPr/>
        </p:nvSpPr>
        <p:spPr>
          <a:xfrm>
            <a:off x="9738360" y="768096"/>
            <a:ext cx="1554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оноо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13232" y="1645920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14400" y="1554480"/>
            <a:ext cx="70408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Асуудал: PC center-үүд суудлын төлөв, төлбөр, no-show, staff check-in-ийг ихэвчлэн чат/утсаар салангид удирддаг.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13232" y="2212848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14400" y="2121408"/>
            <a:ext cx="70408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Нотолгоо: гараар захиалга авах үед давхардал, төлбөр баталгаажаагүй booking, staff мэдээлэл хоцрох эрсдэлтэй.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13232" y="2779776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14400" y="2688336"/>
            <a:ext cx="70408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Шийдэл: real-time seat map, QPay/wallet payment, role-based dashboard, tournament bracket-ийг нэг platform-д холбосон.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13232" y="3346704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14400" y="3255264"/>
            <a:ext cx="70408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Өрсөлдөгчөөс ялгарах нь: зөвхөн booking биш, owner/staff operation болон tournament workflow багтсан.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8321040" y="1572768"/>
            <a:ext cx="3246120" cy="2788920"/>
          </a:xfrm>
          <a:prstGeom prst="roundRect">
            <a:avLst>
              <a:gd name="adj" fmla="val 2623"/>
            </a:avLst>
          </a:prstGeom>
          <a:solidFill>
            <a:srgbClr val="101010"/>
          </a:solidFill>
          <a:ln w="12700">
            <a:solidFill>
              <a:srgbClr val="10101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577072" y="1965960"/>
            <a:ext cx="27432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нь хэрэглэгчийн UI + бизнес operation + төлбөрийн урсгалыг нэгтгэсэн full-stack MVP.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9281160" y="4005072"/>
            <a:ext cx="118872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01010"/>
          </a:solidFill>
          <a:ln w="12700">
            <a:solidFill>
              <a:srgbClr val="101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4747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9494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04241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138988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208483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243230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277977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312724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382219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16966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451713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486460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555955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590702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625449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660196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" y="219456"/>
            <a:ext cx="1828800" cy="246888"/>
          </a:xfrm>
          <a:prstGeom prst="roundRect">
            <a:avLst>
              <a:gd name="adj" fmla="val 14815"/>
            </a:avLst>
          </a:prstGeom>
          <a:solidFill>
            <a:srgbClr val="FFFFFF">
              <a:alpha val="95000"/>
            </a:srgbClr>
          </a:solidFill>
          <a:ln w="8890">
            <a:solidFill>
              <a:srgbClr val="10101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" y="292608"/>
            <a:ext cx="15544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650" b="1" spc="140" kern="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/ 03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594360" y="713232"/>
            <a:ext cx="7315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Техникийн дэд бүтэц</a:t>
            </a:r>
            <a:endParaRPr lang="en-US" sz="2500" dirty="0"/>
          </a:p>
        </p:txBody>
      </p:sp>
      <p:sp>
        <p:nvSpPr>
          <p:cNvPr id="53" name="Text 51"/>
          <p:cNvSpPr/>
          <p:nvPr/>
        </p:nvSpPr>
        <p:spPr>
          <a:xfrm>
            <a:off x="9738360" y="768096"/>
            <a:ext cx="1554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оноо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474720" y="868680"/>
            <a:ext cx="5212080" cy="548640"/>
          </a:xfrm>
          <a:prstGeom prst="rect">
            <a:avLst/>
          </a:prstGeom>
          <a:solidFill>
            <a:srgbClr val="4F83E8"/>
          </a:solidFill>
          <a:ln w="12700">
            <a:solidFill>
              <a:srgbClr val="4F83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66160" y="996696"/>
            <a:ext cx="5029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/ SDK / API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94360" y="1828800"/>
            <a:ext cx="2971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5800" y="1956816"/>
            <a:ext cx="2788920" cy="6492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App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Pages · React · Leaflet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572000" y="1828800"/>
            <a:ext cx="2971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63440" y="1956816"/>
            <a:ext cx="2788920" cy="6492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Layer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handlers · Zod · Auth Guard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549640" y="1828800"/>
            <a:ext cx="2971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641080" y="1956816"/>
            <a:ext cx="2788920" cy="6492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Services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· Firebase · Socket fallback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68680" y="3840480"/>
            <a:ext cx="2331720" cy="731520"/>
          </a:xfrm>
          <a:prstGeom prst="rect">
            <a:avLst/>
          </a:prstGeom>
          <a:solidFill>
            <a:srgbClr val="D7EAFB"/>
          </a:solidFill>
          <a:ln w="12700">
            <a:solidFill>
              <a:srgbClr val="D7EAF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60120" y="3968496"/>
            <a:ext cx="21488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Services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QPay · Clerk · Vercel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800600" y="3703320"/>
            <a:ext cx="2514600" cy="868680"/>
          </a:xfrm>
          <a:prstGeom prst="rect">
            <a:avLst/>
          </a:prstGeom>
          <a:solidFill>
            <a:srgbClr val="D7EAFB"/>
          </a:solidFill>
          <a:ln w="12700">
            <a:solidFill>
              <a:srgbClr val="D7EAF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92040" y="3831336"/>
            <a:ext cx="23317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PostgreSQL · Prisma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9006840" y="3840480"/>
            <a:ext cx="2331720" cy="731520"/>
          </a:xfrm>
          <a:prstGeom prst="rect">
            <a:avLst/>
          </a:prstGeom>
          <a:solidFill>
            <a:srgbClr val="D7EAFB"/>
          </a:solidFill>
          <a:ln w="12700">
            <a:solidFill>
              <a:srgbClr val="D7EAF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098280" y="3968496"/>
            <a:ext cx="21488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Blob Storage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· Uploads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080760" y="1417320"/>
            <a:ext cx="0" cy="411480"/>
          </a:xfrm>
          <a:prstGeom prst="line">
            <a:avLst/>
          </a:prstGeom>
          <a:noFill/>
          <a:ln w="12700">
            <a:solidFill>
              <a:srgbClr val="101010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3566160" y="2212848"/>
            <a:ext cx="1005840" cy="0"/>
          </a:xfrm>
          <a:prstGeom prst="line">
            <a:avLst/>
          </a:prstGeom>
          <a:noFill/>
          <a:ln w="12700">
            <a:solidFill>
              <a:srgbClr val="101010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7543800" y="2212848"/>
            <a:ext cx="1005840" cy="0"/>
          </a:xfrm>
          <a:prstGeom prst="line">
            <a:avLst/>
          </a:prstGeom>
          <a:noFill/>
          <a:ln w="12700">
            <a:solidFill>
              <a:srgbClr val="101010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2103120" y="2615184"/>
            <a:ext cx="0" cy="1207008"/>
          </a:xfrm>
          <a:prstGeom prst="line">
            <a:avLst/>
          </a:prstGeom>
          <a:noFill/>
          <a:ln w="12700">
            <a:solidFill>
              <a:srgbClr val="101010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6053328" y="2615184"/>
            <a:ext cx="0" cy="1078992"/>
          </a:xfrm>
          <a:prstGeom prst="line">
            <a:avLst/>
          </a:prstGeom>
          <a:noFill/>
          <a:ln w="12700">
            <a:solidFill>
              <a:srgbClr val="101010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9738360" y="2615184"/>
            <a:ext cx="0" cy="1207008"/>
          </a:xfrm>
          <a:prstGeom prst="line">
            <a:avLst/>
          </a:prstGeom>
          <a:noFill/>
          <a:ln w="12700">
            <a:solidFill>
              <a:srgbClr val="101010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3200400" y="4206240"/>
            <a:ext cx="1600200" cy="0"/>
          </a:xfrm>
          <a:prstGeom prst="line">
            <a:avLst/>
          </a:prstGeom>
          <a:noFill/>
          <a:ln w="12700">
            <a:solidFill>
              <a:srgbClr val="101010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7315200" y="4206240"/>
            <a:ext cx="1691640" cy="0"/>
          </a:xfrm>
          <a:prstGeom prst="line">
            <a:avLst/>
          </a:prstGeom>
          <a:noFill/>
          <a:ln w="12700">
            <a:solidFill>
              <a:srgbClr val="101010"/>
            </a:solidFill>
            <a:prstDash val="solid"/>
            <a:tailEnd type="triangle"/>
          </a:ln>
        </p:spPr>
      </p:sp>
      <p:sp>
        <p:nvSpPr>
          <p:cNvPr id="76" name="Text 74"/>
          <p:cNvSpPr/>
          <p:nvPr/>
        </p:nvSpPr>
        <p:spPr>
          <a:xfrm>
            <a:off x="640080" y="5166360"/>
            <a:ext cx="1069848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Scanned code evidence: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6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app/api/bookings, app/api/qpay/callback, app/api/wallet/topup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6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app/api/owner/centers, owner seats/status/layout/staff/reviews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6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components/LeafletCentersMap, LocationPickerMap, BlueprintSeatMap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6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lib/useSeatSocket, lib/firebase-client/admin, lib/cron, lib/auth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6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prisma/schema.prisma: User, PCCenter, Seat, Booking, WalletTopUp, Tournament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01010"/>
          </a:solidFill>
          <a:ln w="12700">
            <a:solidFill>
              <a:srgbClr val="101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4747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9494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04241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138988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208483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243230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277977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312724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382219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16966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451713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486460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555955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590702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625449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660196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" y="219456"/>
            <a:ext cx="1828800" cy="246888"/>
          </a:xfrm>
          <a:prstGeom prst="roundRect">
            <a:avLst>
              <a:gd name="adj" fmla="val 14815"/>
            </a:avLst>
          </a:prstGeom>
          <a:solidFill>
            <a:srgbClr val="FFFFFF">
              <a:alpha val="95000"/>
            </a:srgbClr>
          </a:solidFill>
          <a:ln w="8890">
            <a:solidFill>
              <a:srgbClr val="10101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" y="292608"/>
            <a:ext cx="15544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650" b="1" spc="140" kern="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/ 04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594360" y="713232"/>
            <a:ext cx="7315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QPay booking sequence</a:t>
            </a:r>
            <a:endParaRPr lang="en-US" sz="2500" dirty="0"/>
          </a:p>
        </p:txBody>
      </p:sp>
      <p:sp>
        <p:nvSpPr>
          <p:cNvPr id="53" name="Text 51"/>
          <p:cNvSpPr/>
          <p:nvPr/>
        </p:nvSpPr>
        <p:spPr>
          <a:xfrm>
            <a:off x="9738360" y="768096"/>
            <a:ext cx="1554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flow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31520" y="960120"/>
            <a:ext cx="15087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Хэрэглэгч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481328" y="1325880"/>
            <a:ext cx="0" cy="461772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71800" y="960120"/>
            <a:ext cx="15087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721608" y="1325880"/>
            <a:ext cx="0" cy="461772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2080" y="960120"/>
            <a:ext cx="15087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QPay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961888" y="1325880"/>
            <a:ext cx="0" cy="461772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52360" y="960120"/>
            <a:ext cx="15087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Банкны апп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202168" y="1325880"/>
            <a:ext cx="0" cy="461772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692640" y="960120"/>
            <a:ext cx="15087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Owner/Staff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0442448" y="1325880"/>
            <a:ext cx="0" cy="461772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481328" y="1572768"/>
            <a:ext cx="2240280" cy="0"/>
          </a:xfrm>
          <a:prstGeom prst="line">
            <a:avLst/>
          </a:prstGeom>
          <a:noFill/>
          <a:ln w="12700">
            <a:solidFill>
              <a:srgbClr val="4F83E8"/>
            </a:solidFill>
            <a:prstDash val="solid"/>
            <a:headEnd type="none"/>
            <a:tailEnd type="triangle"/>
          </a:ln>
        </p:spPr>
      </p:sp>
      <p:sp>
        <p:nvSpPr>
          <p:cNvPr id="65" name="Text 63"/>
          <p:cNvSpPr/>
          <p:nvPr/>
        </p:nvSpPr>
        <p:spPr>
          <a:xfrm>
            <a:off x="1554480" y="1408176"/>
            <a:ext cx="209397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+ time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721608" y="2011680"/>
            <a:ext cx="2240280" cy="0"/>
          </a:xfrm>
          <a:prstGeom prst="line">
            <a:avLst/>
          </a:prstGeom>
          <a:noFill/>
          <a:ln w="12700">
            <a:solidFill>
              <a:srgbClr val="4F83E8"/>
            </a:solidFill>
            <a:prstDash val="solid"/>
            <a:headEnd type="none"/>
            <a:tailEnd type="triangle"/>
          </a:ln>
        </p:spPr>
      </p:sp>
      <p:sp>
        <p:nvSpPr>
          <p:cNvPr id="67" name="Text 65"/>
          <p:cNvSpPr/>
          <p:nvPr/>
        </p:nvSpPr>
        <p:spPr>
          <a:xfrm>
            <a:off x="3794760" y="1847088"/>
            <a:ext cx="209397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invoice/create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721608" y="2450592"/>
            <a:ext cx="2240280" cy="0"/>
          </a:xfrm>
          <a:prstGeom prst="line">
            <a:avLst/>
          </a:prstGeom>
          <a:noFill/>
          <a:ln w="12700">
            <a:solidFill>
              <a:srgbClr val="4F83E8"/>
            </a:solidFill>
            <a:prstDash val="solid"/>
            <a:headEnd type="triangle"/>
            <a:tailEnd type="none"/>
          </a:ln>
        </p:spPr>
      </p:sp>
      <p:sp>
        <p:nvSpPr>
          <p:cNvPr id="69" name="Text 67"/>
          <p:cNvSpPr/>
          <p:nvPr/>
        </p:nvSpPr>
        <p:spPr>
          <a:xfrm>
            <a:off x="3794760" y="2286000"/>
            <a:ext cx="209397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/ deeplink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481328" y="2889504"/>
            <a:ext cx="2240280" cy="0"/>
          </a:xfrm>
          <a:prstGeom prst="line">
            <a:avLst/>
          </a:prstGeom>
          <a:noFill/>
          <a:ln w="12700">
            <a:solidFill>
              <a:srgbClr val="4F83E8"/>
            </a:solidFill>
            <a:prstDash val="solid"/>
            <a:headEnd type="triangle"/>
            <a:tailEnd type="none"/>
          </a:ln>
        </p:spPr>
      </p:sp>
      <p:sp>
        <p:nvSpPr>
          <p:cNvPr id="71" name="Text 69"/>
          <p:cNvSpPr/>
          <p:nvPr/>
        </p:nvSpPr>
        <p:spPr>
          <a:xfrm>
            <a:off x="1554480" y="2724912"/>
            <a:ext cx="209397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QR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481328" y="3328416"/>
            <a:ext cx="6720840" cy="0"/>
          </a:xfrm>
          <a:prstGeom prst="line">
            <a:avLst/>
          </a:prstGeom>
          <a:noFill/>
          <a:ln w="12700">
            <a:solidFill>
              <a:srgbClr val="4F83E8"/>
            </a:solidFill>
            <a:prstDash val="solid"/>
            <a:headEnd type="none"/>
            <a:tailEnd type="triangle"/>
          </a:ln>
        </p:spPr>
      </p:sp>
      <p:sp>
        <p:nvSpPr>
          <p:cNvPr id="73" name="Text 71"/>
          <p:cNvSpPr/>
          <p:nvPr/>
        </p:nvSpPr>
        <p:spPr>
          <a:xfrm>
            <a:off x="1554480" y="3163824"/>
            <a:ext cx="657453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/ open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961888" y="3767328"/>
            <a:ext cx="2240280" cy="0"/>
          </a:xfrm>
          <a:prstGeom prst="line">
            <a:avLst/>
          </a:prstGeom>
          <a:noFill/>
          <a:ln w="12700">
            <a:solidFill>
              <a:srgbClr val="4F83E8"/>
            </a:solidFill>
            <a:prstDash val="solid"/>
            <a:headEnd type="triangle"/>
            <a:tailEnd type="none"/>
          </a:ln>
        </p:spPr>
      </p:sp>
      <p:sp>
        <p:nvSpPr>
          <p:cNvPr id="75" name="Text 73"/>
          <p:cNvSpPr/>
          <p:nvPr/>
        </p:nvSpPr>
        <p:spPr>
          <a:xfrm>
            <a:off x="6035040" y="3602736"/>
            <a:ext cx="209397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payment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3721608" y="4206240"/>
            <a:ext cx="2240280" cy="0"/>
          </a:xfrm>
          <a:prstGeom prst="line">
            <a:avLst/>
          </a:prstGeom>
          <a:noFill/>
          <a:ln w="12700">
            <a:solidFill>
              <a:srgbClr val="4F83E8"/>
            </a:solidFill>
            <a:prstDash val="solid"/>
            <a:headEnd type="triangle"/>
            <a:tailEnd type="none"/>
          </a:ln>
        </p:spPr>
      </p:sp>
      <p:sp>
        <p:nvSpPr>
          <p:cNvPr id="77" name="Text 75"/>
          <p:cNvSpPr/>
          <p:nvPr/>
        </p:nvSpPr>
        <p:spPr>
          <a:xfrm>
            <a:off x="3794760" y="4041648"/>
            <a:ext cx="209397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 result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3721608" y="4645152"/>
            <a:ext cx="6720840" cy="0"/>
          </a:xfrm>
          <a:prstGeom prst="line">
            <a:avLst/>
          </a:prstGeom>
          <a:noFill/>
          <a:ln w="12700">
            <a:solidFill>
              <a:srgbClr val="4F83E8"/>
            </a:solidFill>
            <a:prstDash val="solid"/>
            <a:headEnd type="none"/>
            <a:tailEnd type="triangle"/>
          </a:ln>
        </p:spPr>
      </p:sp>
      <p:sp>
        <p:nvSpPr>
          <p:cNvPr id="79" name="Text 77"/>
          <p:cNvSpPr/>
          <p:nvPr/>
        </p:nvSpPr>
        <p:spPr>
          <a:xfrm>
            <a:off x="3794760" y="4480560"/>
            <a:ext cx="657453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realtime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721608" y="5084064"/>
            <a:ext cx="6720840" cy="0"/>
          </a:xfrm>
          <a:prstGeom prst="line">
            <a:avLst/>
          </a:prstGeom>
          <a:noFill/>
          <a:ln w="12700">
            <a:solidFill>
              <a:srgbClr val="4F83E8"/>
            </a:solidFill>
            <a:prstDash val="solid"/>
            <a:headEnd type="triangle"/>
            <a:tailEnd type="none"/>
          </a:ln>
        </p:spPr>
      </p:sp>
      <p:sp>
        <p:nvSpPr>
          <p:cNvPr id="81" name="Text 79"/>
          <p:cNvSpPr/>
          <p:nvPr/>
        </p:nvSpPr>
        <p:spPr>
          <a:xfrm>
            <a:off x="3794760" y="4919472"/>
            <a:ext cx="657453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731520" y="6016752"/>
            <a:ext cx="10698480" cy="384048"/>
          </a:xfrm>
          <a:prstGeom prst="roundRect">
            <a:avLst>
              <a:gd name="adj" fmla="val 9524"/>
            </a:avLst>
          </a:prstGeom>
          <a:solidFill>
            <a:srgbClr val="101010"/>
          </a:solidFill>
          <a:ln w="12700">
            <a:solidFill>
              <a:srgbClr val="10101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14400" y="6126480"/>
            <a:ext cx="1033272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paid → seat WAITING. Staff check-in → seat PLAYING. Callback/fallback check prevents unpaid booking.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01010"/>
          </a:solidFill>
          <a:ln w="12700">
            <a:solidFill>
              <a:srgbClr val="101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4747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9494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04241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138988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208483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243230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277977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312724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382219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16966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451713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486460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555955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590702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625449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660196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" y="219456"/>
            <a:ext cx="1828800" cy="246888"/>
          </a:xfrm>
          <a:prstGeom prst="roundRect">
            <a:avLst>
              <a:gd name="adj" fmla="val 14815"/>
            </a:avLst>
          </a:prstGeom>
          <a:solidFill>
            <a:srgbClr val="FFFFFF">
              <a:alpha val="95000"/>
            </a:srgbClr>
          </a:solidFill>
          <a:ln w="8890">
            <a:solidFill>
              <a:srgbClr val="10101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" y="292608"/>
            <a:ext cx="15544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650" b="1" spc="140" kern="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/ 05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594360" y="713232"/>
            <a:ext cx="7315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Кодын хэрэгжилт</a:t>
            </a:r>
            <a:endParaRPr lang="en-US" sz="2500" dirty="0"/>
          </a:p>
        </p:txBody>
      </p:sp>
      <p:sp>
        <p:nvSpPr>
          <p:cNvPr id="53" name="Text 51"/>
          <p:cNvSpPr/>
          <p:nvPr/>
        </p:nvSpPr>
        <p:spPr>
          <a:xfrm>
            <a:off x="9738360" y="768096"/>
            <a:ext cx="1554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оноо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13232" y="1645920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14400" y="1554480"/>
            <a:ext cx="70408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Codebase: Next.js app router, typed API route handlers, Prisma schema, reusable UI components.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13232" y="2212848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14400" y="2121408"/>
            <a:ext cx="70408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 функцүүд: center search/map, draggable owner location, seat booking, payment callback, wallet top-up, check-in, reviews, tournaments.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13232" y="2779776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14400" y="2688336"/>
            <a:ext cx="70408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Realtime: Supabase/Firebase/socket fallback ашиглан seat update, booking update, owner/staff notification-ийг sync хийдэг.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13232" y="3346704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14400" y="3255264"/>
            <a:ext cx="70408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auth guard, owner/staff access guard, zod validation, bcrypt/JWT, rate limit, role-based API.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713232" y="3913632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14400" y="3822192"/>
            <a:ext cx="70408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npm run build амжилттай, Vercel + Supabase + Firebase deployment дээр ажилладаг.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8321040" y="1572768"/>
            <a:ext cx="3246120" cy="2788920"/>
          </a:xfrm>
          <a:prstGeom prst="roundRect">
            <a:avLst>
              <a:gd name="adj" fmla="val 2623"/>
            </a:avLst>
          </a:prstGeom>
          <a:solidFill>
            <a:srgbClr val="101010"/>
          </a:solidFill>
          <a:ln w="12700">
            <a:solidFill>
              <a:srgbClr val="10101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77072" y="1965960"/>
            <a:ext cx="27432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Энэ нь static prototype биш, backend болон database-тэй ажилладаг production-style system.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9281160" y="4005072"/>
            <a:ext cx="118872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01010"/>
          </a:solidFill>
          <a:ln w="12700">
            <a:solidFill>
              <a:srgbClr val="101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4747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9494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04241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138988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208483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243230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277977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312724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382219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16966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451713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486460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555955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590702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625449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660196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" y="219456"/>
            <a:ext cx="1828800" cy="246888"/>
          </a:xfrm>
          <a:prstGeom prst="roundRect">
            <a:avLst>
              <a:gd name="adj" fmla="val 14815"/>
            </a:avLst>
          </a:prstGeom>
          <a:solidFill>
            <a:srgbClr val="FFFFFF">
              <a:alpha val="95000"/>
            </a:srgbClr>
          </a:solidFill>
          <a:ln w="8890">
            <a:solidFill>
              <a:srgbClr val="10101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" y="292608"/>
            <a:ext cx="15544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650" b="1" spc="140" kern="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/ 06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594360" y="713232"/>
            <a:ext cx="7315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Database design</a:t>
            </a:r>
            <a:endParaRPr lang="en-US" sz="2500" dirty="0"/>
          </a:p>
        </p:txBody>
      </p:sp>
      <p:sp>
        <p:nvSpPr>
          <p:cNvPr id="53" name="Text 51"/>
          <p:cNvSpPr/>
          <p:nvPr/>
        </p:nvSpPr>
        <p:spPr>
          <a:xfrm>
            <a:off x="9738360" y="768096"/>
            <a:ext cx="1554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evidence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13232" y="1645920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14400" y="1554480"/>
            <a:ext cx="70408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User: role, balance, no-show count, restriction, auth profile.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13232" y="2212848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14400" y="2121408"/>
            <a:ext cx="70408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PCCenter: owner, address, district, images, lat/lng, rating, policy, staff.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13232" y="2779776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14400" y="2688336"/>
            <a:ext cx="70408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Seat/Floor/SeatType: layout position, status, price, PC spec description.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13232" y="3346704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14400" y="3255264"/>
            <a:ext cx="70408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Booking/BookingSeat: time range, multi-seat reservation, payment state.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713232" y="3913632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14400" y="3822192"/>
            <a:ext cx="70408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WalletTopUp/QPay: invoice id, paid status, balance increment history.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713232" y="4480560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14400" y="4389120"/>
            <a:ext cx="70408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Tournament/Team/Match: team registration, bracket round, score, winner propagation.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8321040" y="1572768"/>
            <a:ext cx="3246120" cy="2788920"/>
          </a:xfrm>
          <a:prstGeom prst="roundRect">
            <a:avLst>
              <a:gd name="adj" fmla="val 2623"/>
            </a:avLst>
          </a:prstGeom>
          <a:solidFill>
            <a:srgbClr val="101010"/>
          </a:solidFill>
          <a:ln w="12700">
            <a:solidFill>
              <a:srgbClr val="10101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577072" y="1965960"/>
            <a:ext cx="27432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нь booking system, operation system, payment ledger, tournament system-ийг салангид relation-оор барьсан.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9281160" y="4005072"/>
            <a:ext cx="118872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01010"/>
          </a:solidFill>
          <a:ln w="12700">
            <a:solidFill>
              <a:srgbClr val="101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4747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9494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04241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138988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208483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243230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277977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312724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382219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16966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451713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486460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555955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590702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625449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660196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" y="219456"/>
            <a:ext cx="1828800" cy="246888"/>
          </a:xfrm>
          <a:prstGeom prst="roundRect">
            <a:avLst>
              <a:gd name="adj" fmla="val 14815"/>
            </a:avLst>
          </a:prstGeom>
          <a:solidFill>
            <a:srgbClr val="FFFFFF">
              <a:alpha val="95000"/>
            </a:srgbClr>
          </a:solidFill>
          <a:ln w="8890">
            <a:solidFill>
              <a:srgbClr val="10101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" y="292608"/>
            <a:ext cx="15544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650" b="1" spc="140" kern="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/ 07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594360" y="713232"/>
            <a:ext cx="7315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Эрсдэлийн менежмент</a:t>
            </a:r>
            <a:endParaRPr lang="en-US" sz="2500" dirty="0"/>
          </a:p>
        </p:txBody>
      </p:sp>
      <p:sp>
        <p:nvSpPr>
          <p:cNvPr id="53" name="Text 51"/>
          <p:cNvSpPr/>
          <p:nvPr/>
        </p:nvSpPr>
        <p:spPr>
          <a:xfrm>
            <a:off x="9738360" y="768096"/>
            <a:ext cx="1554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оноо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40080" y="1325880"/>
            <a:ext cx="2011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6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Эрсдэл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246120" y="1325880"/>
            <a:ext cx="4754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6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Арга хэмжээ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966960" y="1325880"/>
            <a:ext cx="10972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94360" y="1691640"/>
            <a:ext cx="1088136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8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7240" y="1847088"/>
            <a:ext cx="21945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callback spoofing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3246120" y="1828800"/>
            <a:ext cx="53949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6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Webhook/result check, invoice id tracking, paid status update only after verification</a:t>
            </a:r>
            <a:endParaRPr lang="en-US" sz="940" dirty="0"/>
          </a:p>
        </p:txBody>
      </p:sp>
      <p:sp>
        <p:nvSpPr>
          <p:cNvPr id="60" name="Shape 58"/>
          <p:cNvSpPr/>
          <p:nvPr/>
        </p:nvSpPr>
        <p:spPr>
          <a:xfrm>
            <a:off x="10012680" y="1819656"/>
            <a:ext cx="914400" cy="228600"/>
          </a:xfrm>
          <a:prstGeom prst="roundRect">
            <a:avLst>
              <a:gd name="adj" fmla="val 16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058400" y="1874520"/>
            <a:ext cx="822960" cy="640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40" dirty="0"/>
          </a:p>
        </p:txBody>
      </p:sp>
      <p:sp>
        <p:nvSpPr>
          <p:cNvPr id="62" name="Shape 60"/>
          <p:cNvSpPr/>
          <p:nvPr/>
        </p:nvSpPr>
        <p:spPr>
          <a:xfrm>
            <a:off x="594360" y="2404872"/>
            <a:ext cx="1088136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8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7240" y="2560320"/>
            <a:ext cx="21945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booking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3246120" y="2542032"/>
            <a:ext cx="53949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6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transaction, overlap check, seat status sync</a:t>
            </a:r>
            <a:endParaRPr lang="en-US" sz="940" dirty="0"/>
          </a:p>
        </p:txBody>
      </p:sp>
      <p:sp>
        <p:nvSpPr>
          <p:cNvPr id="65" name="Shape 63"/>
          <p:cNvSpPr/>
          <p:nvPr/>
        </p:nvSpPr>
        <p:spPr>
          <a:xfrm>
            <a:off x="10012680" y="2532888"/>
            <a:ext cx="914400" cy="228600"/>
          </a:xfrm>
          <a:prstGeom prst="roundRect">
            <a:avLst>
              <a:gd name="adj" fmla="val 16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058400" y="2587752"/>
            <a:ext cx="822960" cy="640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40" dirty="0"/>
          </a:p>
        </p:txBody>
      </p:sp>
      <p:sp>
        <p:nvSpPr>
          <p:cNvPr id="67" name="Shape 65"/>
          <p:cNvSpPr/>
          <p:nvPr/>
        </p:nvSpPr>
        <p:spPr>
          <a:xfrm>
            <a:off x="594360" y="3118104"/>
            <a:ext cx="1088136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8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77240" y="3273552"/>
            <a:ext cx="21945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delay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3246120" y="3255264"/>
            <a:ext cx="53949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6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Supabase/Firebase/socket + polling fallback</a:t>
            </a:r>
            <a:endParaRPr lang="en-US" sz="940" dirty="0"/>
          </a:p>
        </p:txBody>
      </p:sp>
      <p:sp>
        <p:nvSpPr>
          <p:cNvPr id="70" name="Shape 68"/>
          <p:cNvSpPr/>
          <p:nvPr/>
        </p:nvSpPr>
        <p:spPr>
          <a:xfrm>
            <a:off x="10012680" y="3246120"/>
            <a:ext cx="914400" cy="228600"/>
          </a:xfrm>
          <a:prstGeom prst="roundRect">
            <a:avLst>
              <a:gd name="adj" fmla="val 16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058400" y="3300984"/>
            <a:ext cx="822960" cy="640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40" dirty="0"/>
          </a:p>
        </p:txBody>
      </p:sp>
      <p:sp>
        <p:nvSpPr>
          <p:cNvPr id="72" name="Shape 70"/>
          <p:cNvSpPr/>
          <p:nvPr/>
        </p:nvSpPr>
        <p:spPr>
          <a:xfrm>
            <a:off x="594360" y="3831336"/>
            <a:ext cx="1088136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8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77240" y="3986784"/>
            <a:ext cx="21945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Free-tier cold start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3246120" y="3968496"/>
            <a:ext cx="53949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6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 script, Vercel/Supabase paid plan path</a:t>
            </a:r>
            <a:endParaRPr lang="en-US" sz="940" dirty="0"/>
          </a:p>
        </p:txBody>
      </p:sp>
      <p:sp>
        <p:nvSpPr>
          <p:cNvPr id="75" name="Shape 73"/>
          <p:cNvSpPr/>
          <p:nvPr/>
        </p:nvSpPr>
        <p:spPr>
          <a:xfrm>
            <a:off x="10012680" y="3959352"/>
            <a:ext cx="914400" cy="228600"/>
          </a:xfrm>
          <a:prstGeom prst="roundRect">
            <a:avLst>
              <a:gd name="adj" fmla="val 16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058400" y="4014216"/>
            <a:ext cx="822960" cy="640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40" dirty="0"/>
          </a:p>
        </p:txBody>
      </p:sp>
      <p:sp>
        <p:nvSpPr>
          <p:cNvPr id="77" name="Shape 75"/>
          <p:cNvSpPr/>
          <p:nvPr/>
        </p:nvSpPr>
        <p:spPr>
          <a:xfrm>
            <a:off x="594360" y="4544568"/>
            <a:ext cx="1088136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8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77240" y="4700016"/>
            <a:ext cx="21945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owner data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3246120" y="4681728"/>
            <a:ext cx="53949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6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Zod validation, editable map marker, required seat type fields</a:t>
            </a:r>
            <a:endParaRPr lang="en-US" sz="940" dirty="0"/>
          </a:p>
        </p:txBody>
      </p:sp>
      <p:sp>
        <p:nvSpPr>
          <p:cNvPr id="80" name="Shape 78"/>
          <p:cNvSpPr/>
          <p:nvPr/>
        </p:nvSpPr>
        <p:spPr>
          <a:xfrm>
            <a:off x="10012680" y="4672584"/>
            <a:ext cx="914400" cy="228600"/>
          </a:xfrm>
          <a:prstGeom prst="roundRect">
            <a:avLst>
              <a:gd name="adj" fmla="val 16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058400" y="4727448"/>
            <a:ext cx="822960" cy="640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7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01010"/>
          </a:solidFill>
          <a:ln w="12700">
            <a:solidFill>
              <a:srgbClr val="101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4747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9494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04241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138988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208483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243230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277977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312724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382219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16966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451713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486460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555955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590702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625449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660196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" y="219456"/>
            <a:ext cx="1828800" cy="246888"/>
          </a:xfrm>
          <a:prstGeom prst="roundRect">
            <a:avLst>
              <a:gd name="adj" fmla="val 14815"/>
            </a:avLst>
          </a:prstGeom>
          <a:solidFill>
            <a:srgbClr val="FFFFFF">
              <a:alpha val="95000"/>
            </a:srgbClr>
          </a:solidFill>
          <a:ln w="8890">
            <a:solidFill>
              <a:srgbClr val="10101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" y="292608"/>
            <a:ext cx="15544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650" b="1" spc="140" kern="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/ 08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594360" y="713232"/>
            <a:ext cx="7315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дараалал</a:t>
            </a:r>
            <a:endParaRPr lang="en-US" sz="2500" dirty="0"/>
          </a:p>
        </p:txBody>
      </p:sp>
      <p:sp>
        <p:nvSpPr>
          <p:cNvPr id="53" name="Text 51"/>
          <p:cNvSpPr/>
          <p:nvPr/>
        </p:nvSpPr>
        <p:spPr>
          <a:xfrm>
            <a:off x="9738360" y="768096"/>
            <a:ext cx="1554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13232" y="1645920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14400" y="1554480"/>
            <a:ext cx="70408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/centers: Leaflet map дээр center сонгох, specs харах.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13232" y="2212848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14400" y="2121408"/>
            <a:ext cx="70408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Owner edit: marker чирж center location тохируулах, seat type дээр RTX/Hz spec оруулах.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13232" y="2779776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14400" y="2688336"/>
            <a:ext cx="70408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Player: суудал сонгох, QPay/wallet payment хийх.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13232" y="3346704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14400" y="3255264"/>
            <a:ext cx="70408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Owner/Staff: WAITING booking харах, check-in дарахад seat PLAYING болно.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713232" y="3913632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14400" y="3822192"/>
            <a:ext cx="70408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Profile: wallet top-up, booking history, favorite centers.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713232" y="4480560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14400" y="4389120"/>
            <a:ext cx="70408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Tournament: team registration, owner bracket management.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8321040" y="1572768"/>
            <a:ext cx="3246120" cy="2788920"/>
          </a:xfrm>
          <a:prstGeom prst="roundRect">
            <a:avLst>
              <a:gd name="adj" fmla="val 2623"/>
            </a:avLst>
          </a:prstGeom>
          <a:solidFill>
            <a:srgbClr val="101010"/>
          </a:solidFill>
          <a:ln w="12700">
            <a:solidFill>
              <a:srgbClr val="10101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577072" y="1965960"/>
            <a:ext cx="27432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нь rubric-ийн 'ажиллагаатай demo' болон 'гол шаардлага хэрэгжсэн' хэсгийг шууд нотолно.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9281160" y="4005072"/>
            <a:ext cx="118872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01010"/>
          </a:solidFill>
          <a:ln w="12700">
            <a:solidFill>
              <a:srgbClr val="101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4747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9494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04241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138988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208483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243230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277977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312724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382219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16966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451713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486460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5559552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5907024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6254496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6601968"/>
            <a:ext cx="12188952" cy="0"/>
          </a:xfrm>
          <a:prstGeom prst="line">
            <a:avLst/>
          </a:prstGeom>
          <a:noFill/>
          <a:ln w="2540">
            <a:solidFill>
              <a:srgbClr val="E8E8E1">
                <a:alpha val="8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" y="219456"/>
            <a:ext cx="1828800" cy="246888"/>
          </a:xfrm>
          <a:prstGeom prst="roundRect">
            <a:avLst>
              <a:gd name="adj" fmla="val 14815"/>
            </a:avLst>
          </a:prstGeom>
          <a:solidFill>
            <a:srgbClr val="FFFFFF">
              <a:alpha val="95000"/>
            </a:srgbClr>
          </a:solidFill>
          <a:ln w="8890">
            <a:solidFill>
              <a:srgbClr val="10101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" y="292608"/>
            <a:ext cx="15544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650" b="1" spc="140" kern="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/ 09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594360" y="713232"/>
            <a:ext cx="7315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Үнэлгээний хүснэгтэд тааруулсан дүгнэлт</a:t>
            </a:r>
            <a:endParaRPr lang="en-US" sz="2500" dirty="0"/>
          </a:p>
        </p:txBody>
      </p:sp>
      <p:sp>
        <p:nvSpPr>
          <p:cNvPr id="53" name="Text 51"/>
          <p:cNvSpPr/>
          <p:nvPr/>
        </p:nvSpPr>
        <p:spPr>
          <a:xfrm>
            <a:off x="9738360" y="768096"/>
            <a:ext cx="1554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онооны стратеги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13232" y="1645920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14400" y="1554480"/>
            <a:ext cx="70408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Танилцуулга: зорилго, хамрах хүрээ, logical flow тодорхой.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13232" y="2212848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14400" y="2121408"/>
            <a:ext cx="70408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Асуудал/шийдэл: бодит workflow pain point + шууд холбоотой шийдэл.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13232" y="2779776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14400" y="2688336"/>
            <a:ext cx="70408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Техник: Next.js/Supabase/Firebase/QPay/Leaflet architecture үндэслэлтэй.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13232" y="3346704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14400" y="3255264"/>
            <a:ext cx="70408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Код: route handlers, Prisma schema, realtime hooks, role guard, UI components хэрэгжсэн.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713232" y="3913632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14400" y="3822192"/>
            <a:ext cx="70408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Эрсдэл: payment callback, concurrency, realtime delay, free-tier limitation-ийг тодорхойлж mitigation гаргасан.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8321040" y="1572768"/>
            <a:ext cx="3246120" cy="2788920"/>
          </a:xfrm>
          <a:prstGeom prst="roundRect">
            <a:avLst>
              <a:gd name="adj" fmla="val 2623"/>
            </a:avLst>
          </a:prstGeom>
          <a:solidFill>
            <a:srgbClr val="101010"/>
          </a:solidFill>
          <a:ln w="12700">
            <a:solidFill>
              <a:srgbClr val="10101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77072" y="1965960"/>
            <a:ext cx="27432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Зорилго: зөвхөн гоё slide биш, rubric бүрт оноо авах нотолгоо гаргах.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9281160" y="4005072"/>
            <a:ext cx="118872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Reihen Defense Rubric 2026</dc:title>
  <dc:subject>Diploma defense rubric</dc:subject>
  <dc:creator>Reihen</dc:creator>
  <cp:lastModifiedBy>Reihen</cp:lastModifiedBy>
  <cp:revision>1</cp:revision>
  <dcterms:created xsi:type="dcterms:W3CDTF">2026-05-19T11:56:51Z</dcterms:created>
  <dcterms:modified xsi:type="dcterms:W3CDTF">2026-05-19T11:56:51Z</dcterms:modified>
</cp:coreProperties>
</file>